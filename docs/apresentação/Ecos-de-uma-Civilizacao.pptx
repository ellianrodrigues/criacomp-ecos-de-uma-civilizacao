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0"/>
            <a:ext cx="58366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65392" cy="6858000"/>
          </a:xfrm>
          <a:prstGeom prst="rect">
            <a:avLst/>
          </a:prstGeom>
          <a:solidFill>
            <a:srgbClr val="141815"/>
          </a:solidFill>
          <a:ln>
            <a:solidFill>
              <a:srgbClr val="1418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66928" y="1024128"/>
            <a:ext cx="2359152" cy="0"/>
          </a:xfrm>
          <a:prstGeom prst="line">
            <a:avLst/>
          </a:prstGeom>
          <a:ln w="27940">
            <a:solidFill>
              <a:srgbClr val="4B9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1417320"/>
            <a:ext cx="5532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ECE5D6"/>
                </a:solidFill>
                <a:latin typeface="Georgia"/>
              </a:rPr>
              <a:t>ECOS DE UMA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57400"/>
            <a:ext cx="5532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4B978D"/>
                </a:solidFill>
                <a:latin typeface="Georgia"/>
              </a:rPr>
              <a:t>CIVILIZAÇÃO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99232"/>
            <a:ext cx="5257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C6B284"/>
                </a:solidFill>
                <a:latin typeface="Georgia"/>
              </a:rPr>
              <a:t>Uma arqueologia fictícia construída</a:t>
            </a:r>
            <a:br/>
            <a:r>
              <a:rPr sz="1800" b="0">
                <a:solidFill>
                  <a:srgbClr val="C6B284"/>
                </a:solidFill>
                <a:latin typeface="Georgia"/>
              </a:rPr>
              <a:t>descoberta por descoberta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47488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5B4A4"/>
                </a:solidFill>
                <a:latin typeface="Aptos"/>
              </a:rPr>
              <a:t>Criatividade Computacional · CIn/UFPE · 2026.2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422392"/>
            <a:ext cx="5440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ECE5D6"/>
                </a:solidFill>
                <a:latin typeface="Aptos"/>
              </a:rPr>
              <a:t>Ellian Rodrigues · Fabriely Santos · Aline Marianna</a:t>
            </a:r>
            <a:br/>
            <a:r>
              <a:rPr sz="1000" b="0">
                <a:solidFill>
                  <a:srgbClr val="ECE5D6"/>
                </a:solidFill>
                <a:latin typeface="Aptos"/>
              </a:rPr>
              <a:t>Monyque Lima · Amanda Arruda · Nícolas Veiga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4B978D"/>
                </a:solidFill>
                <a:latin typeface="Aptos"/>
              </a:rPr>
              <a:t>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ECE5D6"/>
                </a:solidFill>
                <a:latin typeface="Georgia"/>
              </a:rPr>
              <a:t>Uma história que emerge das descobertas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10160">
            <a:solidFill>
              <a:srgbClr val="2B6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8912" y="658368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5B4A4"/>
                </a:solidFill>
                <a:latin typeface="Aptos"/>
              </a:rPr>
              <a:t>ECOS DE UMA CIVILIZAÇÃO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7453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4B978D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029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ECE5D6"/>
                </a:solidFill>
                <a:latin typeface="Georgia"/>
              </a:rPr>
              <a:t>Um museu virtual de uma civilização desaparecida cuja história não foi escrita previamente.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816352"/>
            <a:ext cx="4800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C6B284"/>
                </a:solidFill>
                <a:latin typeface="Aptos"/>
              </a:rPr>
              <a:t>Cada artefato altera o que sabemos e passa a fazer parte do contexto da próxima geração.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4279392"/>
            <a:ext cx="4663440" cy="1051560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489704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B5B4A4"/>
                </a:solidFill>
                <a:latin typeface="Aptos"/>
              </a:rPr>
              <a:t>Não ilustramos uma história pronta.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800600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4B978D"/>
                </a:solidFill>
                <a:latin typeface="Aptos"/>
              </a:rPr>
              <a:t>Construímos a história durante o processo.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25296"/>
            <a:ext cx="1874519" cy="4983480"/>
          </a:xfrm>
          <a:prstGeom prst="rect">
            <a:avLst/>
          </a:prstGeom>
          <a:ln w="12700">
            <a:solidFill>
              <a:srgbClr val="444E45"/>
            </a:solidFill>
          </a:ln>
        </p:spPr>
      </p:pic>
      <p:sp>
        <p:nvSpPr>
          <p:cNvPr id="13" name="Rounded Rectangle 12"/>
          <p:cNvSpPr/>
          <p:nvPr/>
        </p:nvSpPr>
        <p:spPr>
          <a:xfrm>
            <a:off x="5879592" y="1353312"/>
            <a:ext cx="438912" cy="274320"/>
          </a:xfrm>
          <a:prstGeom prst="roundRect">
            <a:avLst>
              <a:gd name="adj" fmla="val 8000"/>
            </a:avLst>
          </a:prstGeom>
          <a:solidFill>
            <a:srgbClr val="4B978D"/>
          </a:solidFill>
          <a:ln>
            <a:solidFill>
              <a:srgbClr val="4B9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9592" y="1362456"/>
            <a:ext cx="4389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90B0A"/>
                </a:solidFill>
                <a:latin typeface="Aptos"/>
              </a:rPr>
              <a:t>01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225296"/>
            <a:ext cx="1874519" cy="4983480"/>
          </a:xfrm>
          <a:prstGeom prst="rect">
            <a:avLst/>
          </a:prstGeom>
          <a:ln w="12700">
            <a:solidFill>
              <a:srgbClr val="444E45"/>
            </a:solidFill>
          </a:ln>
        </p:spPr>
      </p:pic>
      <p:sp>
        <p:nvSpPr>
          <p:cNvPr id="16" name="Rounded Rectangle 15"/>
          <p:cNvSpPr/>
          <p:nvPr/>
        </p:nvSpPr>
        <p:spPr>
          <a:xfrm>
            <a:off x="7936992" y="1353312"/>
            <a:ext cx="438912" cy="274320"/>
          </a:xfrm>
          <a:prstGeom prst="roundRect">
            <a:avLst>
              <a:gd name="adj" fmla="val 8000"/>
            </a:avLst>
          </a:prstGeom>
          <a:solidFill>
            <a:srgbClr val="4B978D"/>
          </a:solidFill>
          <a:ln>
            <a:solidFill>
              <a:srgbClr val="4B9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36992" y="1362456"/>
            <a:ext cx="4389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90B0A"/>
                </a:solidFill>
                <a:latin typeface="Aptos"/>
              </a:rPr>
              <a:t>04</a:t>
            </a:r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1225296"/>
            <a:ext cx="1874519" cy="4983480"/>
          </a:xfrm>
          <a:prstGeom prst="rect">
            <a:avLst/>
          </a:prstGeom>
          <a:ln w="12700">
            <a:solidFill>
              <a:srgbClr val="444E45"/>
            </a:solidFill>
          </a:ln>
        </p:spPr>
      </p:pic>
      <p:sp>
        <p:nvSpPr>
          <p:cNvPr id="19" name="Rounded Rectangle 18"/>
          <p:cNvSpPr/>
          <p:nvPr/>
        </p:nvSpPr>
        <p:spPr>
          <a:xfrm>
            <a:off x="9994392" y="1353312"/>
            <a:ext cx="438912" cy="274320"/>
          </a:xfrm>
          <a:prstGeom prst="roundRect">
            <a:avLst>
              <a:gd name="adj" fmla="val 8000"/>
            </a:avLst>
          </a:prstGeom>
          <a:solidFill>
            <a:srgbClr val="4B978D"/>
          </a:solidFill>
          <a:ln>
            <a:solidFill>
              <a:srgbClr val="4B9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94392" y="1362456"/>
            <a:ext cx="4389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90B0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4B978D"/>
                </a:solidFill>
                <a:latin typeface="Aptos"/>
              </a:rPr>
              <a:t>EIXO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ECE5D6"/>
                </a:solidFill>
                <a:latin typeface="Georgia"/>
              </a:rPr>
              <a:t>A regra que transforma imagens em coleção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10160">
            <a:solidFill>
              <a:srgbClr val="2B6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8912" y="658368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5B4A4"/>
                </a:solidFill>
                <a:latin typeface="Aptos"/>
              </a:rPr>
              <a:t>ECOS DE UMA CIVILIZAÇÃO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7453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4B978D"/>
                </a:solidFill>
                <a:latin typeface="Aptos"/>
              </a:rPr>
              <a:t>03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1124712"/>
            <a:ext cx="3127248" cy="5212080"/>
          </a:xfrm>
          <a:prstGeom prst="rect">
            <a:avLst/>
          </a:prstGeom>
          <a:ln w="12700">
            <a:solidFill>
              <a:srgbClr val="3F4C43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02920" y="1188720"/>
            <a:ext cx="7635240" cy="1280160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4B978D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898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6B284"/>
                </a:solidFill>
                <a:latin typeface="Aptos"/>
              </a:rPr>
              <a:t>RESTRIÇÃO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719072"/>
            <a:ext cx="635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20" b="0">
                <a:solidFill>
                  <a:srgbClr val="ECE5D6"/>
                </a:solidFill>
                <a:latin typeface="Aptos"/>
              </a:rPr>
              <a:t>Cada descoberta precisa ser coerente com o conhecimento acumulado.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88920"/>
            <a:ext cx="7635240" cy="1280160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4B978D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9900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6B284"/>
                </a:solidFill>
                <a:latin typeface="Aptos"/>
              </a:rPr>
              <a:t>O QUE SE REPETE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319272"/>
            <a:ext cx="635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20" b="0">
                <a:solidFill>
                  <a:srgbClr val="ECE5D6"/>
                </a:solidFill>
                <a:latin typeface="Aptos"/>
              </a:rPr>
              <a:t>Toda imagem acrescenta informação relevante sobre a mesma civilização.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389120"/>
            <a:ext cx="7635240" cy="1280160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4B978D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45902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6B284"/>
                </a:solidFill>
                <a:latin typeface="Aptos"/>
              </a:rPr>
              <a:t>O QUE VARIA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4919472"/>
            <a:ext cx="635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20" b="0">
                <a:solidFill>
                  <a:srgbClr val="ECE5D6"/>
                </a:solidFill>
                <a:latin typeface="Aptos"/>
              </a:rPr>
              <a:t>Vestígios, materiais, funções, períodos e relações com as descobertas anteriores.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4B978D"/>
                </a:solidFill>
                <a:latin typeface="Aptos"/>
              </a:rPr>
              <a:t>PROCESSO CRIATIVO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ECE5D6"/>
                </a:solidFill>
                <a:latin typeface="Georgia"/>
              </a:rPr>
              <a:t>Um ciclo de geração, avaliação e acúmulo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10160">
            <a:solidFill>
              <a:srgbClr val="2B6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8912" y="658368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5B4A4"/>
                </a:solidFill>
                <a:latin typeface="Aptos"/>
              </a:rPr>
              <a:t>ECOS DE UMA CIVILIZAÇÃO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7453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4B978D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965960" cy="960120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49961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4B978D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572768"/>
            <a:ext cx="14264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ECE5D6"/>
                </a:solidFill>
                <a:latin typeface="Aptos"/>
              </a:rPr>
              <a:t>Conhecimento</a:t>
            </a:r>
            <a:br/>
            <a:r>
              <a:rPr sz="1220" b="1">
                <a:solidFill>
                  <a:srgbClr val="ECE5D6"/>
                </a:solidFill>
                <a:latin typeface="Aptos"/>
              </a:rPr>
              <a:t>acumulado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371600"/>
            <a:ext cx="1965960" cy="960120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149961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4B978D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1572768"/>
            <a:ext cx="14264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ECE5D6"/>
                </a:solidFill>
                <a:latin typeface="Aptos"/>
              </a:rPr>
              <a:t>Direção</a:t>
            </a:r>
            <a:br/>
            <a:r>
              <a:rPr sz="1220" b="1">
                <a:solidFill>
                  <a:srgbClr val="ECE5D6"/>
                </a:solidFill>
                <a:latin typeface="Aptos"/>
              </a:rPr>
              <a:t>do grupo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1371600"/>
            <a:ext cx="1965960" cy="960120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149961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4B978D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1572768"/>
            <a:ext cx="14264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ECE5D6"/>
                </a:solidFill>
                <a:latin typeface="Aptos"/>
              </a:rPr>
              <a:t>Prompt e</a:t>
            </a:r>
            <a:br/>
            <a:r>
              <a:rPr sz="1220" b="1">
                <a:solidFill>
                  <a:srgbClr val="ECE5D6"/>
                </a:solidFill>
                <a:latin typeface="Aptos"/>
              </a:rPr>
              <a:t>referências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371600"/>
            <a:ext cx="1965960" cy="960120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0064" y="149961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4B978D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1572768"/>
            <a:ext cx="14264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ECE5D6"/>
                </a:solidFill>
                <a:latin typeface="Aptos"/>
              </a:rPr>
              <a:t>Geração</a:t>
            </a:r>
            <a:br/>
            <a:r>
              <a:rPr sz="1220" b="1">
                <a:solidFill>
                  <a:srgbClr val="ECE5D6"/>
                </a:solidFill>
                <a:latin typeface="Aptos"/>
              </a:rPr>
              <a:t>com 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1371600"/>
            <a:ext cx="1965960" cy="960120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149961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4B978D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8088" y="1572768"/>
            <a:ext cx="14264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ECE5D6"/>
                </a:solidFill>
                <a:latin typeface="Aptos"/>
              </a:rPr>
              <a:t>Avaliação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3090672"/>
            <a:ext cx="1965960" cy="960120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0064" y="321868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4B978D"/>
                </a:solidFill>
                <a:latin typeface="Apto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3291840"/>
            <a:ext cx="14264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ECE5D6"/>
                </a:solidFill>
                <a:latin typeface="Aptos"/>
              </a:rPr>
              <a:t>Aceitar, iterar</a:t>
            </a:r>
            <a:br/>
            <a:r>
              <a:rPr sz="1220" b="1">
                <a:solidFill>
                  <a:srgbClr val="ECE5D6"/>
                </a:solidFill>
                <a:latin typeface="Aptos"/>
              </a:rPr>
              <a:t>ou descartar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3090672"/>
            <a:ext cx="1965960" cy="960120"/>
          </a:xfrm>
          <a:prstGeom prst="roundRect">
            <a:avLst>
              <a:gd name="adj" fmla="val 8000"/>
            </a:avLst>
          </a:prstGeom>
          <a:solidFill>
            <a:srgbClr val="2B635C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9784" y="321868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ECE5D6"/>
                </a:solidFill>
                <a:latin typeface="Aptos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7528" y="3291840"/>
            <a:ext cx="14264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ECE5D6"/>
                </a:solidFill>
                <a:latin typeface="Aptos"/>
              </a:rPr>
              <a:t>Novo</a:t>
            </a:r>
            <a:br/>
            <a:r>
              <a:rPr sz="1220" b="1">
                <a:solidFill>
                  <a:srgbClr val="ECE5D6"/>
                </a:solidFill>
                <a:latin typeface="Aptos"/>
              </a:rPr>
              <a:t>conhecimento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68880" y="1847088"/>
            <a:ext cx="274320" cy="0"/>
          </a:xfrm>
          <a:prstGeom prst="line">
            <a:avLst/>
          </a:prstGeom>
          <a:ln w="16510">
            <a:solidFill>
              <a:srgbClr val="4B9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709160" y="1847088"/>
            <a:ext cx="274320" cy="0"/>
          </a:xfrm>
          <a:prstGeom prst="line">
            <a:avLst/>
          </a:prstGeom>
          <a:ln w="16510">
            <a:solidFill>
              <a:srgbClr val="4B9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49440" y="1847088"/>
            <a:ext cx="274320" cy="0"/>
          </a:xfrm>
          <a:prstGeom prst="line">
            <a:avLst/>
          </a:prstGeom>
          <a:ln w="16510">
            <a:solidFill>
              <a:srgbClr val="4B9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89720" y="1847088"/>
            <a:ext cx="274320" cy="0"/>
          </a:xfrm>
          <a:prstGeom prst="line">
            <a:avLst/>
          </a:prstGeom>
          <a:ln w="16510">
            <a:solidFill>
              <a:srgbClr val="4B9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442448" y="2331720"/>
            <a:ext cx="0" cy="758952"/>
          </a:xfrm>
          <a:prstGeom prst="line">
            <a:avLst/>
          </a:prstGeom>
          <a:ln w="16510">
            <a:solidFill>
              <a:srgbClr val="4B9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9189720" y="3566160"/>
            <a:ext cx="274320" cy="0"/>
          </a:xfrm>
          <a:prstGeom prst="line">
            <a:avLst/>
          </a:prstGeom>
          <a:ln w="16510">
            <a:solidFill>
              <a:srgbClr val="4B9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6949440" y="3566160"/>
            <a:ext cx="274320" cy="0"/>
          </a:xfrm>
          <a:prstGeom prst="line">
            <a:avLst/>
          </a:prstGeom>
          <a:ln w="16510">
            <a:solidFill>
              <a:srgbClr val="4B9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48640" y="4709160"/>
            <a:ext cx="5166360" cy="1188720"/>
          </a:xfrm>
          <a:prstGeom prst="roundRect">
            <a:avLst>
              <a:gd name="adj" fmla="val 8000"/>
            </a:avLst>
          </a:prstGeom>
          <a:solidFill>
            <a:srgbClr val="272D27"/>
          </a:solidFill>
          <a:ln>
            <a:solidFill>
              <a:srgbClr val="2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492861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4B978D"/>
                </a:solidFill>
                <a:latin typeface="Aptos"/>
              </a:rPr>
              <a:t>GRUPO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4873752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40" b="0">
                <a:solidFill>
                  <a:srgbClr val="ECE5D6"/>
                </a:solidFill>
                <a:latin typeface="Aptos"/>
              </a:rPr>
              <a:t>Escolhe direções, constrói prompts, avalia e decide.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89320" y="470916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272D27"/>
          </a:solidFill>
          <a:ln>
            <a:solidFill>
              <a:srgbClr val="2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36208" y="4928616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4B978D"/>
                </a:solidFill>
                <a:latin typeface="Aptos"/>
              </a:rPr>
              <a:t>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4848" y="4873752"/>
            <a:ext cx="4261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40" b="0">
                <a:solidFill>
                  <a:srgbClr val="ECE5D6"/>
                </a:solidFill>
                <a:latin typeface="Aptos"/>
              </a:rPr>
              <a:t>Produz possibilidades visuais para exploração e seleção.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4B978D"/>
                </a:solidFill>
                <a:latin typeface="Aptos"/>
              </a:rPr>
              <a:t>COLEÇÃO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ECE5D6"/>
                </a:solidFill>
                <a:latin typeface="Georgia"/>
              </a:rPr>
              <a:t>Descobertas 01–03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10160">
            <a:solidFill>
              <a:srgbClr val="2B6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8912" y="658368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5B4A4"/>
                </a:solidFill>
                <a:latin typeface="Aptos"/>
              </a:rPr>
              <a:t>ECOS DE UMA CIVILIZAÇÃO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7453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4B978D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3703320" cy="5193792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3520440" cy="3639312"/>
          </a:xfrm>
          <a:prstGeom prst="rect">
            <a:avLst/>
          </a:prstGeom>
          <a:ln w="12700">
            <a:solidFill>
              <a:srgbClr val="414D43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12648" y="1371600"/>
            <a:ext cx="438912" cy="274320"/>
          </a:xfrm>
          <a:prstGeom prst="roundRect">
            <a:avLst>
              <a:gd name="adj" fmla="val 8000"/>
            </a:avLst>
          </a:prstGeom>
          <a:solidFill>
            <a:srgbClr val="4B978D"/>
          </a:solidFill>
          <a:ln>
            <a:solidFill>
              <a:srgbClr val="4B9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380744"/>
            <a:ext cx="4389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90B0A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01091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20" b="1">
                <a:solidFill>
                  <a:srgbClr val="ECE5D6"/>
                </a:solidFill>
                <a:latin typeface="Georgia"/>
              </a:rPr>
              <a:t>Estela das Três Correntes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440680"/>
            <a:ext cx="338328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60" b="0">
                <a:solidFill>
                  <a:srgbClr val="B5B4A4"/>
                </a:solidFill>
                <a:latin typeface="Aptos"/>
              </a:rPr>
              <a:t>Introduziu inscrições, pedra, cobre, reparo e o motivo das três linhas convergentes.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143000"/>
            <a:ext cx="3703320" cy="5193792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234440"/>
            <a:ext cx="3520440" cy="3639312"/>
          </a:xfrm>
          <a:prstGeom prst="rect">
            <a:avLst/>
          </a:prstGeom>
          <a:ln w="12700">
            <a:solidFill>
              <a:srgbClr val="414D43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4526280" y="1371600"/>
            <a:ext cx="438912" cy="274320"/>
          </a:xfrm>
          <a:prstGeom prst="roundRect">
            <a:avLst>
              <a:gd name="adj" fmla="val 8000"/>
            </a:avLst>
          </a:prstGeom>
          <a:solidFill>
            <a:srgbClr val="4B978D"/>
          </a:solidFill>
          <a:ln>
            <a:solidFill>
              <a:srgbClr val="4B9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380744"/>
            <a:ext cx="4389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90B0A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501091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20" b="1">
                <a:solidFill>
                  <a:srgbClr val="ECE5D6"/>
                </a:solidFill>
                <a:latin typeface="Georgia"/>
              </a:rPr>
              <a:t>O Limiar Apagado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440680"/>
            <a:ext cx="338328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60" b="0">
                <a:solidFill>
                  <a:srgbClr val="B5B4A4"/>
                </a:solidFill>
                <a:latin typeface="Aptos"/>
              </a:rPr>
              <a:t>Confirmou o motivo na arquitetura e revelou que uma das três partes foi apagada intencionalmente.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1143000"/>
            <a:ext cx="3703320" cy="5193792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183" y="1234440"/>
            <a:ext cx="3520440" cy="3639312"/>
          </a:xfrm>
          <a:prstGeom prst="rect">
            <a:avLst/>
          </a:prstGeom>
          <a:ln w="12700">
            <a:solidFill>
              <a:srgbClr val="414D43"/>
            </a:solidFill>
          </a:ln>
        </p:spPr>
      </p:pic>
      <p:sp>
        <p:nvSpPr>
          <p:cNvPr id="21" name="Rounded Rectangle 20"/>
          <p:cNvSpPr/>
          <p:nvPr/>
        </p:nvSpPr>
        <p:spPr>
          <a:xfrm>
            <a:off x="8439912" y="1371600"/>
            <a:ext cx="438912" cy="274320"/>
          </a:xfrm>
          <a:prstGeom prst="roundRect">
            <a:avLst>
              <a:gd name="adj" fmla="val 8000"/>
            </a:avLst>
          </a:prstGeom>
          <a:solidFill>
            <a:srgbClr val="4B978D"/>
          </a:solidFill>
          <a:ln>
            <a:solidFill>
              <a:srgbClr val="4B9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1380744"/>
            <a:ext cx="4389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90B0A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501091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20" b="1">
                <a:solidFill>
                  <a:srgbClr val="ECE5D6"/>
                </a:solidFill>
                <a:latin typeface="Georgia"/>
              </a:rPr>
              <a:t>A Câmara do Terceiro Vazio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5440680"/>
            <a:ext cx="338328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60" b="0">
                <a:solidFill>
                  <a:srgbClr val="B5B4A4"/>
                </a:solidFill>
                <a:latin typeface="Aptos"/>
              </a:rPr>
              <a:t>Mostrou dois discos preservados e um terceiro receptáculo deliberadamente selado.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4B978D"/>
                </a:solidFill>
                <a:latin typeface="Aptos"/>
              </a:rPr>
              <a:t>COLEÇÃO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ECE5D6"/>
                </a:solidFill>
                <a:latin typeface="Georgia"/>
              </a:rPr>
              <a:t>Descobertas 04–06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10160">
            <a:solidFill>
              <a:srgbClr val="2B6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8912" y="658368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5B4A4"/>
                </a:solidFill>
                <a:latin typeface="Aptos"/>
              </a:rPr>
              <a:t>ECOS DE UMA CIVILIZAÇÃO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7453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4B978D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3703320" cy="5193792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3520440" cy="3639312"/>
          </a:xfrm>
          <a:prstGeom prst="rect">
            <a:avLst/>
          </a:prstGeom>
          <a:ln w="12700">
            <a:solidFill>
              <a:srgbClr val="414D43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12648" y="1371600"/>
            <a:ext cx="438912" cy="274320"/>
          </a:xfrm>
          <a:prstGeom prst="roundRect">
            <a:avLst>
              <a:gd name="adj" fmla="val 8000"/>
            </a:avLst>
          </a:prstGeom>
          <a:solidFill>
            <a:srgbClr val="4B978D"/>
          </a:solidFill>
          <a:ln>
            <a:solidFill>
              <a:srgbClr val="4B9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380744"/>
            <a:ext cx="4389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90B0A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01091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20" b="1">
                <a:solidFill>
                  <a:srgbClr val="ECE5D6"/>
                </a:solidFill>
                <a:latin typeface="Georgia"/>
              </a:rPr>
              <a:t>O Disco Oculto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440680"/>
            <a:ext cx="338328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60" b="0">
                <a:solidFill>
                  <a:srgbClr val="B5B4A4"/>
                </a:solidFill>
                <a:latin typeface="Aptos"/>
              </a:rPr>
              <a:t>Indicou que a terceira corrente não foi destruída: foi retirada e preservada em segredo.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143000"/>
            <a:ext cx="3703320" cy="5193792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234440"/>
            <a:ext cx="3520440" cy="3639312"/>
          </a:xfrm>
          <a:prstGeom prst="rect">
            <a:avLst/>
          </a:prstGeom>
          <a:ln w="12700">
            <a:solidFill>
              <a:srgbClr val="414D43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4526280" y="1371600"/>
            <a:ext cx="438912" cy="274320"/>
          </a:xfrm>
          <a:prstGeom prst="roundRect">
            <a:avLst>
              <a:gd name="adj" fmla="val 8000"/>
            </a:avLst>
          </a:prstGeom>
          <a:solidFill>
            <a:srgbClr val="4B978D"/>
          </a:solidFill>
          <a:ln>
            <a:solidFill>
              <a:srgbClr val="4B9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380744"/>
            <a:ext cx="4389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90B0A"/>
                </a:solidFill>
                <a:latin typeface="Aptos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501091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20" b="1">
                <a:solidFill>
                  <a:srgbClr val="ECE5D6"/>
                </a:solidFill>
                <a:latin typeface="Georgia"/>
              </a:rPr>
              <a:t>A Mesa das Três Ofertas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440680"/>
            <a:ext cx="338328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60" b="0">
                <a:solidFill>
                  <a:srgbClr val="B5B4A4"/>
                </a:solidFill>
                <a:latin typeface="Aptos"/>
              </a:rPr>
              <a:t>Levou a estrutura tripla a uma prática material e manteve o tratamento diferente da terceira parte.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1143000"/>
            <a:ext cx="3703320" cy="5193792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183" y="1234440"/>
            <a:ext cx="3520440" cy="3639312"/>
          </a:xfrm>
          <a:prstGeom prst="rect">
            <a:avLst/>
          </a:prstGeom>
          <a:ln w="12700">
            <a:solidFill>
              <a:srgbClr val="414D43"/>
            </a:solidFill>
          </a:ln>
        </p:spPr>
      </p:pic>
      <p:sp>
        <p:nvSpPr>
          <p:cNvPr id="21" name="Rounded Rectangle 20"/>
          <p:cNvSpPr/>
          <p:nvPr/>
        </p:nvSpPr>
        <p:spPr>
          <a:xfrm>
            <a:off x="8439912" y="1371600"/>
            <a:ext cx="438912" cy="274320"/>
          </a:xfrm>
          <a:prstGeom prst="roundRect">
            <a:avLst>
              <a:gd name="adj" fmla="val 8000"/>
            </a:avLst>
          </a:prstGeom>
          <a:solidFill>
            <a:srgbClr val="4B978D"/>
          </a:solidFill>
          <a:ln>
            <a:solidFill>
              <a:srgbClr val="4B9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1380744"/>
            <a:ext cx="4389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90B0A"/>
                </a:solidFill>
                <a:latin typeface="Apto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501091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20" b="1">
                <a:solidFill>
                  <a:srgbClr val="ECE5D6"/>
                </a:solidFill>
                <a:latin typeface="Georgia"/>
              </a:rPr>
              <a:t>O Fragmento das Três Rotas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5440680"/>
            <a:ext cx="338328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60" b="0">
                <a:solidFill>
                  <a:srgbClr val="B5B4A4"/>
                </a:solidFill>
                <a:latin typeface="Aptos"/>
              </a:rPr>
              <a:t>Sugeriu uma organização espacial e mostrou que a perda da terceira linha podia ser natural.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4B978D"/>
                </a:solidFill>
                <a:latin typeface="Aptos"/>
              </a:rPr>
              <a:t>COLEÇÃO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ECE5D6"/>
                </a:solidFill>
                <a:latin typeface="Georgia"/>
              </a:rPr>
              <a:t>Descobertas 07–09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10160">
            <a:solidFill>
              <a:srgbClr val="2B6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8912" y="658368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5B4A4"/>
                </a:solidFill>
                <a:latin typeface="Aptos"/>
              </a:rPr>
              <a:t>ECOS DE UMA CIVILIZAÇÃO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7453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4B978D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3703320" cy="5193792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3520440" cy="3639312"/>
          </a:xfrm>
          <a:prstGeom prst="rect">
            <a:avLst/>
          </a:prstGeom>
          <a:ln w="12700">
            <a:solidFill>
              <a:srgbClr val="414D43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12648" y="1371600"/>
            <a:ext cx="438912" cy="274320"/>
          </a:xfrm>
          <a:prstGeom prst="roundRect">
            <a:avLst>
              <a:gd name="adj" fmla="val 8000"/>
            </a:avLst>
          </a:prstGeom>
          <a:solidFill>
            <a:srgbClr val="4B978D"/>
          </a:solidFill>
          <a:ln>
            <a:solidFill>
              <a:srgbClr val="4B9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380744"/>
            <a:ext cx="4389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90B0A"/>
                </a:solidFill>
                <a:latin typeface="Aptos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01091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20" b="1">
                <a:solidFill>
                  <a:srgbClr val="ECE5D6"/>
                </a:solidFill>
                <a:latin typeface="Georgia"/>
              </a:rPr>
              <a:t>A Confluência Vazia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440680"/>
            <a:ext cx="338328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60" b="0">
                <a:solidFill>
                  <a:srgbClr val="B5B4A4"/>
                </a:solidFill>
                <a:latin typeface="Aptos"/>
              </a:rPr>
              <a:t>Reuniu trajetos, inscrições e um centro vazio, aproximando as ideias de rota e convergência.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143000"/>
            <a:ext cx="3703320" cy="5193792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234440"/>
            <a:ext cx="3520440" cy="3639312"/>
          </a:xfrm>
          <a:prstGeom prst="rect">
            <a:avLst/>
          </a:prstGeom>
          <a:ln w="12700">
            <a:solidFill>
              <a:srgbClr val="414D43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4526280" y="1371600"/>
            <a:ext cx="438912" cy="274320"/>
          </a:xfrm>
          <a:prstGeom prst="roundRect">
            <a:avLst>
              <a:gd name="adj" fmla="val 8000"/>
            </a:avLst>
          </a:prstGeom>
          <a:solidFill>
            <a:srgbClr val="4B978D"/>
          </a:solidFill>
          <a:ln>
            <a:solidFill>
              <a:srgbClr val="4B9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380744"/>
            <a:ext cx="4389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90B0A"/>
                </a:solidFill>
                <a:latin typeface="Aptos"/>
              </a:rPr>
              <a:t>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501091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20" b="1">
                <a:solidFill>
                  <a:srgbClr val="ECE5D6"/>
                </a:solidFill>
                <a:latin typeface="Georgia"/>
              </a:rPr>
              <a:t>O Tecido das Três Tramas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440680"/>
            <a:ext cx="338328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60" b="0">
                <a:solidFill>
                  <a:srgbClr val="B5B4A4"/>
                </a:solidFill>
                <a:latin typeface="Aptos"/>
              </a:rPr>
              <a:t>Levou o padrão triplo da pedra para um objeto flexível, transportável e reparado.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1143000"/>
            <a:ext cx="3703320" cy="5193792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183" y="1234440"/>
            <a:ext cx="3520440" cy="3639312"/>
          </a:xfrm>
          <a:prstGeom prst="rect">
            <a:avLst/>
          </a:prstGeom>
          <a:ln w="12700">
            <a:solidFill>
              <a:srgbClr val="414D43"/>
            </a:solidFill>
          </a:ln>
        </p:spPr>
      </p:pic>
      <p:sp>
        <p:nvSpPr>
          <p:cNvPr id="21" name="Rounded Rectangle 20"/>
          <p:cNvSpPr/>
          <p:nvPr/>
        </p:nvSpPr>
        <p:spPr>
          <a:xfrm>
            <a:off x="8439912" y="1371600"/>
            <a:ext cx="438912" cy="274320"/>
          </a:xfrm>
          <a:prstGeom prst="roundRect">
            <a:avLst>
              <a:gd name="adj" fmla="val 8000"/>
            </a:avLst>
          </a:prstGeom>
          <a:solidFill>
            <a:srgbClr val="4B978D"/>
          </a:solidFill>
          <a:ln>
            <a:solidFill>
              <a:srgbClr val="4B9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1380744"/>
            <a:ext cx="4389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90B0A"/>
                </a:solidFill>
                <a:latin typeface="Aptos"/>
              </a:rP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501091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20" b="1">
                <a:solidFill>
                  <a:srgbClr val="ECE5D6"/>
                </a:solidFill>
                <a:latin typeface="Georgia"/>
              </a:rPr>
              <a:t>O Cesto de Travessia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5440680"/>
            <a:ext cx="338328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60" b="0">
                <a:solidFill>
                  <a:srgbClr val="B5B4A4"/>
                </a:solidFill>
                <a:latin typeface="Aptos"/>
              </a:rPr>
              <a:t>Confirmou uma função prática para as tramas e introduziu o transporte de materiais diferentes.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4B978D"/>
                </a:solidFill>
                <a:latin typeface="Aptos"/>
              </a:rPr>
              <a:t>COLEÇÃO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ECE5D6"/>
                </a:solidFill>
                <a:latin typeface="Georgia"/>
              </a:rPr>
              <a:t>Descobertas 10–12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10160">
            <a:solidFill>
              <a:srgbClr val="2B6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8912" y="658368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5B4A4"/>
                </a:solidFill>
                <a:latin typeface="Aptos"/>
              </a:rPr>
              <a:t>ECOS DE UMA CIVILIZAÇÃO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7453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4B978D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3703320" cy="5193792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3520440" cy="3639312"/>
          </a:xfrm>
          <a:prstGeom prst="rect">
            <a:avLst/>
          </a:prstGeom>
          <a:ln w="12700">
            <a:solidFill>
              <a:srgbClr val="414D43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12648" y="1371600"/>
            <a:ext cx="438912" cy="274320"/>
          </a:xfrm>
          <a:prstGeom prst="roundRect">
            <a:avLst>
              <a:gd name="adj" fmla="val 8000"/>
            </a:avLst>
          </a:prstGeom>
          <a:solidFill>
            <a:srgbClr val="4B978D"/>
          </a:solidFill>
          <a:ln>
            <a:solidFill>
              <a:srgbClr val="4B9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380744"/>
            <a:ext cx="4389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90B0A"/>
                </a:solidFill>
                <a:latin typeface="Aptos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01091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20" b="1">
                <a:solidFill>
                  <a:srgbClr val="ECE5D6"/>
                </a:solidFill>
                <a:latin typeface="Georgia"/>
              </a:rPr>
              <a:t>Os Recipientes do Cesto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440680"/>
            <a:ext cx="338328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60" b="0">
                <a:solidFill>
                  <a:srgbClr val="B5B4A4"/>
                </a:solidFill>
                <a:latin typeface="Aptos"/>
              </a:rPr>
              <a:t>Revelou utensílios muito usados para manipular materiais, sem definir alimentação ou medição.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143000"/>
            <a:ext cx="3703320" cy="5193792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234440"/>
            <a:ext cx="3520440" cy="3639312"/>
          </a:xfrm>
          <a:prstGeom prst="rect">
            <a:avLst/>
          </a:prstGeom>
          <a:ln w="12700">
            <a:solidFill>
              <a:srgbClr val="414D43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4526280" y="1371600"/>
            <a:ext cx="438912" cy="274320"/>
          </a:xfrm>
          <a:prstGeom prst="roundRect">
            <a:avLst>
              <a:gd name="adj" fmla="val 8000"/>
            </a:avLst>
          </a:prstGeom>
          <a:solidFill>
            <a:srgbClr val="4B978D"/>
          </a:solidFill>
          <a:ln>
            <a:solidFill>
              <a:srgbClr val="4B9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380744"/>
            <a:ext cx="4389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90B0A"/>
                </a:solidFill>
                <a:latin typeface="Aptos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501091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20" b="1">
                <a:solidFill>
                  <a:srgbClr val="ECE5D6"/>
                </a:solidFill>
                <a:latin typeface="Georgia"/>
              </a:rPr>
              <a:t>A Grade dos Quatro Espaços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440680"/>
            <a:ext cx="338328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60" b="0">
                <a:solidFill>
                  <a:srgbClr val="B5B4A4"/>
                </a:solidFill>
                <a:latin typeface="Aptos"/>
              </a:rPr>
              <a:t>Mostrou que três divisórias podiam produzir quatro áreas e mudou a leitura do padrão triplo.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1143000"/>
            <a:ext cx="3703320" cy="5193792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183" y="1234440"/>
            <a:ext cx="3520440" cy="3639312"/>
          </a:xfrm>
          <a:prstGeom prst="rect">
            <a:avLst/>
          </a:prstGeom>
          <a:ln w="12700">
            <a:solidFill>
              <a:srgbClr val="414D43"/>
            </a:solidFill>
          </a:ln>
        </p:spPr>
      </p:pic>
      <p:sp>
        <p:nvSpPr>
          <p:cNvPr id="21" name="Rounded Rectangle 20"/>
          <p:cNvSpPr/>
          <p:nvPr/>
        </p:nvSpPr>
        <p:spPr>
          <a:xfrm>
            <a:off x="8439912" y="1371600"/>
            <a:ext cx="438912" cy="274320"/>
          </a:xfrm>
          <a:prstGeom prst="roundRect">
            <a:avLst>
              <a:gd name="adj" fmla="val 8000"/>
            </a:avLst>
          </a:prstGeom>
          <a:solidFill>
            <a:srgbClr val="4B978D"/>
          </a:solidFill>
          <a:ln>
            <a:solidFill>
              <a:srgbClr val="4B9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1380744"/>
            <a:ext cx="4389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90B0A"/>
                </a:solidFill>
                <a:latin typeface="Aptos"/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501091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20" b="1">
                <a:solidFill>
                  <a:srgbClr val="ECE5D6"/>
                </a:solidFill>
                <a:latin typeface="Georgia"/>
              </a:rPr>
              <a:t>A Placa das Quatro Partes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5440680"/>
            <a:ext cx="338328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60" b="0">
                <a:solidFill>
                  <a:srgbClr val="B5B4A4"/>
                </a:solidFill>
                <a:latin typeface="Aptos"/>
              </a:rPr>
              <a:t>Conectou inscrições, cobre, três sulcos, quatro campos e transporte em um mesmo sistema material.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4B978D"/>
                </a:solidFill>
                <a:latin typeface="Aptos"/>
              </a:rPr>
              <a:t>PROGRESSÃO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ECE5D6"/>
                </a:solidFill>
                <a:latin typeface="Georgia"/>
              </a:rPr>
              <a:t>Como o conhecimento mudou ao longo da coleção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10160">
            <a:solidFill>
              <a:srgbClr val="2B6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8912" y="658368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5B4A4"/>
                </a:solidFill>
                <a:latin typeface="Aptos"/>
              </a:rPr>
              <a:t>ECOS DE UMA CIVILIZAÇÃO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7453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4B978D"/>
                </a:solidFill>
                <a:latin typeface="Aptos"/>
              </a:rPr>
              <a:t>09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1560" y="3456432"/>
            <a:ext cx="9966960" cy="0"/>
          </a:xfrm>
          <a:prstGeom prst="line">
            <a:avLst/>
          </a:prstGeom>
          <a:ln w="38100">
            <a:solidFill>
              <a:srgbClr val="2B6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216152"/>
            <a:ext cx="2011680" cy="1609344"/>
          </a:xfrm>
          <a:prstGeom prst="rect">
            <a:avLst/>
          </a:prstGeom>
          <a:ln w="12700">
            <a:solidFill>
              <a:srgbClr val="414D43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1216152" y="326440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B978D"/>
          </a:solidFill>
          <a:ln>
            <a:solidFill>
              <a:srgbClr val="4B9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3822191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4B978D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15137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6B284"/>
                </a:solidFill>
                <a:latin typeface="Aptos"/>
              </a:rPr>
              <a:t>SÍMBOLO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08576"/>
            <a:ext cx="1938528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CE5D6"/>
                </a:solidFill>
                <a:latin typeface="Aptos"/>
              </a:rPr>
              <a:t>Três correntes, inscrições e um centro vazio.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344" y="1216152"/>
            <a:ext cx="2011680" cy="1609344"/>
          </a:xfrm>
          <a:prstGeom prst="rect">
            <a:avLst/>
          </a:prstGeom>
          <a:ln w="12700">
            <a:solidFill>
              <a:srgbClr val="414D43"/>
            </a:solidFill>
          </a:ln>
        </p:spPr>
      </p:pic>
      <p:sp>
        <p:nvSpPr>
          <p:cNvPr id="14" name="Rounded Rectangle 13"/>
          <p:cNvSpPr/>
          <p:nvPr/>
        </p:nvSpPr>
        <p:spPr>
          <a:xfrm>
            <a:off x="3547872" y="326440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B978D"/>
          </a:solidFill>
          <a:ln>
            <a:solidFill>
              <a:srgbClr val="4B9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52344" y="3822191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4B978D"/>
                </a:solidFill>
                <a:latin typeface="Aptos"/>
              </a:rPr>
              <a:t>02–04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2344" y="415137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6B284"/>
                </a:solidFill>
                <a:latin typeface="Aptos"/>
              </a:rPr>
              <a:t>OCULTAÇÃO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608576"/>
            <a:ext cx="1938528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CE5D6"/>
                </a:solidFill>
                <a:latin typeface="Aptos"/>
              </a:rPr>
              <a:t>Apagamento, selamento e preservação secreta.</a:t>
            </a:r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1216152"/>
            <a:ext cx="2011680" cy="1609344"/>
          </a:xfrm>
          <a:prstGeom prst="rect">
            <a:avLst/>
          </a:prstGeom>
          <a:ln w="12700">
            <a:solidFill>
              <a:srgbClr val="414D43"/>
            </a:solidFill>
          </a:ln>
        </p:spPr>
      </p:pic>
      <p:sp>
        <p:nvSpPr>
          <p:cNvPr id="19" name="Rounded Rectangle 18"/>
          <p:cNvSpPr/>
          <p:nvPr/>
        </p:nvSpPr>
        <p:spPr>
          <a:xfrm>
            <a:off x="5879592" y="326440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B978D"/>
          </a:solidFill>
          <a:ln>
            <a:solidFill>
              <a:srgbClr val="4B9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84064" y="3822191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4B978D"/>
                </a:solidFill>
                <a:latin typeface="Aptos"/>
              </a:rPr>
              <a:t>05–07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415137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6B284"/>
                </a:solidFill>
                <a:latin typeface="Aptos"/>
              </a:rPr>
              <a:t>ESPAÇO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608576"/>
            <a:ext cx="1938528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CE5D6"/>
                </a:solidFill>
                <a:latin typeface="Aptos"/>
              </a:rPr>
              <a:t>Práticas, possíveis rotas e convergências.</a:t>
            </a:r>
          </a:p>
        </p:txBody>
      </p:sp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783" y="1216152"/>
            <a:ext cx="2011680" cy="1609344"/>
          </a:xfrm>
          <a:prstGeom prst="rect">
            <a:avLst/>
          </a:prstGeom>
          <a:ln w="12700">
            <a:solidFill>
              <a:srgbClr val="414D43"/>
            </a:solidFill>
          </a:ln>
        </p:spPr>
      </p:pic>
      <p:sp>
        <p:nvSpPr>
          <p:cNvPr id="24" name="Rounded Rectangle 23"/>
          <p:cNvSpPr/>
          <p:nvPr/>
        </p:nvSpPr>
        <p:spPr>
          <a:xfrm>
            <a:off x="8211311" y="326440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B978D"/>
          </a:solidFill>
          <a:ln>
            <a:solidFill>
              <a:srgbClr val="4B9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5783" y="3822191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4B978D"/>
                </a:solidFill>
                <a:latin typeface="Aptos"/>
              </a:rPr>
              <a:t>08–10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5783" y="415137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6B284"/>
                </a:solidFill>
                <a:latin typeface="Aptos"/>
              </a:rPr>
              <a:t>COTIDIANO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59" y="4608576"/>
            <a:ext cx="1938528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CE5D6"/>
                </a:solidFill>
                <a:latin typeface="Aptos"/>
              </a:rPr>
              <a:t>Tecido, transporte e utensílios muito usados.</a:t>
            </a:r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7504" y="1216152"/>
            <a:ext cx="2011680" cy="1609344"/>
          </a:xfrm>
          <a:prstGeom prst="rect">
            <a:avLst/>
          </a:prstGeom>
          <a:ln w="12700">
            <a:solidFill>
              <a:srgbClr val="414D43"/>
            </a:solidFill>
          </a:ln>
        </p:spPr>
      </p:pic>
      <p:sp>
        <p:nvSpPr>
          <p:cNvPr id="29" name="Rounded Rectangle 28"/>
          <p:cNvSpPr/>
          <p:nvPr/>
        </p:nvSpPr>
        <p:spPr>
          <a:xfrm>
            <a:off x="10543032" y="326440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B978D"/>
          </a:solidFill>
          <a:ln>
            <a:solidFill>
              <a:srgbClr val="4B9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47504" y="3822191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4B978D"/>
                </a:solidFill>
                <a:latin typeface="Aptos"/>
              </a:rPr>
              <a:t>11–12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47504" y="415137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6B284"/>
                </a:solidFill>
                <a:latin typeface="Aptos"/>
              </a:rPr>
              <a:t>REINTERPRETAÇÃO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4608576"/>
            <a:ext cx="1938528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CE5D6"/>
                </a:solidFill>
                <a:latin typeface="Aptos"/>
              </a:rPr>
              <a:t>Três elementos também podiam organizar quatro partes.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907024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5B4A4"/>
                </a:solidFill>
                <a:latin typeface="Aptos"/>
              </a:rPr>
              <a:t>Pontos de virada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870448"/>
            <a:ext cx="9464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20" b="0">
                <a:solidFill>
                  <a:srgbClr val="4B978D"/>
                </a:solidFill>
                <a:latin typeface="Aptos"/>
              </a:rPr>
              <a:t>02 apagamento  ·  04 preservação  ·  09 uso cotidiano  ·  11 três ≠ três partes  ·  12 síntese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4B978D"/>
                </a:solidFill>
                <a:latin typeface="Aptos"/>
              </a:rPr>
              <a:t>DESCARTE COMENTADO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ECE5D6"/>
                </a:solidFill>
                <a:latin typeface="Georgia"/>
              </a:rPr>
              <a:t>Uma imagem plausível ainda pode quebrar a continuidade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10160">
            <a:solidFill>
              <a:srgbClr val="2B6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8912" y="658368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5B4A4"/>
                </a:solidFill>
                <a:latin typeface="Aptos"/>
              </a:rPr>
              <a:t>ECOS DE UMA CIVILIZAÇÃO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7453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4B978D"/>
                </a:solidFill>
                <a:latin typeface="Aptos"/>
              </a:rPr>
              <a:t>10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25296"/>
            <a:ext cx="3255264" cy="4041648"/>
          </a:xfrm>
          <a:prstGeom prst="rect">
            <a:avLst/>
          </a:prstGeom>
          <a:ln w="12700">
            <a:solidFill>
              <a:srgbClr val="AD674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67512" y="138074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AD6742"/>
                </a:solidFill>
                <a:latin typeface="Aptos"/>
              </a:rPr>
              <a:t>DESCARTADA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04104"/>
            <a:ext cx="32552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CE5D6"/>
                </a:solidFill>
                <a:latin typeface="Georgia"/>
              </a:rPr>
              <a:t>Cozinha / preparo de alimentos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81635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4B978D"/>
                </a:solidFill>
                <a:latin typeface="Aptos"/>
              </a:rPr>
              <a:t>→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225296"/>
            <a:ext cx="3255264" cy="4041648"/>
          </a:xfrm>
          <a:prstGeom prst="rect">
            <a:avLst/>
          </a:prstGeom>
          <a:ln w="12700">
            <a:solidFill>
              <a:srgbClr val="4B978D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846320" y="1380744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4B978D"/>
                </a:solidFill>
                <a:latin typeface="Aptos"/>
              </a:rPr>
              <a:t>ACEITA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5404104"/>
            <a:ext cx="32552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CE5D6"/>
                </a:solidFill>
                <a:latin typeface="Georgia"/>
              </a:rPr>
              <a:t>Os Recipientes do Cesto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225296"/>
            <a:ext cx="3456432" cy="4498848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5544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AD6742"/>
                </a:solidFill>
                <a:latin typeface="Aptos"/>
              </a:rPr>
              <a:t>POR QUE NÃO ENTROU?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029968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4B978D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002536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70" b="0">
                <a:solidFill>
                  <a:srgbClr val="ECE5D6"/>
                </a:solidFill>
                <a:latin typeface="Aptos"/>
              </a:rPr>
              <a:t>Tratava os resíduos como alimentos sem comprovação.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779776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4B978D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752344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70" b="0">
                <a:solidFill>
                  <a:srgbClr val="ECE5D6"/>
                </a:solidFill>
                <a:latin typeface="Aptos"/>
              </a:rPr>
              <a:t>Pressupunha uma cozinha próxima ao cesto.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529584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4B978D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502152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70" b="0">
                <a:solidFill>
                  <a:srgbClr val="ECE5D6"/>
                </a:solidFill>
                <a:latin typeface="Aptos"/>
              </a:rPr>
              <a:t>Criava uma relação funcional ainda não sustentada.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03920" y="4389120"/>
            <a:ext cx="2852928" cy="0"/>
          </a:xfrm>
          <a:prstGeom prst="line">
            <a:avLst/>
          </a:prstGeom>
          <a:ln w="12700">
            <a:solidFill>
              <a:srgbClr val="2B6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03920" y="460857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C6B284"/>
                </a:solidFill>
                <a:latin typeface="Aptos"/>
              </a:rPr>
              <a:t>APRENDIZADO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928616"/>
            <a:ext cx="277063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4B978D"/>
                </a:solidFill>
                <a:latin typeface="Aptos"/>
              </a:rPr>
              <a:t>Continuidade também limita quantas inferências entram de uma vez.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4B978D"/>
                </a:solidFill>
                <a:latin typeface="Aptos"/>
              </a:rPr>
              <a:t>FERRAMENTAS 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ECE5D6"/>
                </a:solidFill>
                <a:latin typeface="Georgia"/>
              </a:rPr>
              <a:t>A geração fazia parte de um processo de decisão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10160">
            <a:solidFill>
              <a:srgbClr val="2B6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8912" y="658368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5B4A4"/>
                </a:solidFill>
                <a:latin typeface="Aptos"/>
              </a:rPr>
              <a:t>ECOS DE UMA CIVILIZAÇÃO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7453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4B978D"/>
                </a:solidFill>
                <a:latin typeface="Aptos"/>
              </a:rPr>
              <a:t>11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2057400" cy="2560320"/>
          </a:xfrm>
          <a:prstGeom prst="rect">
            <a:avLst/>
          </a:prstGeom>
          <a:ln w="12700">
            <a:solidFill>
              <a:srgbClr val="414D43"/>
            </a:solidFill>
          </a:ln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912" y="1234440"/>
            <a:ext cx="2057400" cy="2560320"/>
          </a:xfrm>
          <a:prstGeom prst="rect">
            <a:avLst/>
          </a:prstGeom>
          <a:ln w="12700">
            <a:solidFill>
              <a:srgbClr val="414D43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02920" y="4041648"/>
            <a:ext cx="4279392" cy="1435608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297680"/>
            <a:ext cx="3520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4B978D"/>
                </a:solidFill>
                <a:latin typeface="Aptos"/>
              </a:rPr>
              <a:t>FERRAMENTAS DOCUMENTADAS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645152"/>
            <a:ext cx="3611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ECE5D6"/>
                </a:solidFill>
                <a:latin typeface="Aptos"/>
              </a:rPr>
              <a:t>ChatGPT · descobertas 01–08</a:t>
            </a:r>
            <a:br/>
            <a:r>
              <a:rPr sz="1300" b="1">
                <a:solidFill>
                  <a:srgbClr val="ECE5D6"/>
                </a:solidFill>
                <a:latin typeface="Aptos"/>
              </a:rPr>
              <a:t>Codex + gerador integrado · 09–10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234440"/>
            <a:ext cx="6382512" cy="4242816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1F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1581912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6B284"/>
                </a:solidFill>
                <a:latin typeface="Aptos"/>
              </a:rPr>
              <a:t>GRUPO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545336"/>
            <a:ext cx="42976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CE5D6"/>
                </a:solidFill>
                <a:latin typeface="Aptos"/>
              </a:rPr>
              <a:t>direção  ·  contexto  ·  prompt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32120" y="2103120"/>
            <a:ext cx="5623560" cy="0"/>
          </a:xfrm>
          <a:prstGeom prst="line">
            <a:avLst/>
          </a:prstGeom>
          <a:ln w="12700">
            <a:solidFill>
              <a:srgbClr val="2B6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532120" y="2441448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6B284"/>
                </a:solidFill>
                <a:latin typeface="Aptos"/>
              </a:rPr>
              <a:t>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404872"/>
            <a:ext cx="42976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CE5D6"/>
                </a:solidFill>
                <a:latin typeface="Aptos"/>
              </a:rPr>
              <a:t>possibilidades visuais  ·  variações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32120" y="2962656"/>
            <a:ext cx="5623560" cy="0"/>
          </a:xfrm>
          <a:prstGeom prst="line">
            <a:avLst/>
          </a:prstGeom>
          <a:ln w="12700">
            <a:solidFill>
              <a:srgbClr val="2B6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532120" y="330098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6B284"/>
                </a:solidFill>
                <a:latin typeface="Aptos"/>
              </a:rPr>
              <a:t>GRUPO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264408"/>
            <a:ext cx="42976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CE5D6"/>
                </a:solidFill>
                <a:latin typeface="Aptos"/>
              </a:rPr>
              <a:t>avaliação  ·  iteração  ·  descarte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532120" y="3822191"/>
            <a:ext cx="5623560" cy="0"/>
          </a:xfrm>
          <a:prstGeom prst="line">
            <a:avLst/>
          </a:prstGeom>
          <a:ln w="12700">
            <a:solidFill>
              <a:srgbClr val="2B6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532120" y="4160520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4B978D"/>
                </a:solidFill>
                <a:latin typeface="Aptos"/>
              </a:rPr>
              <a:t>COLEÇÃO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123944"/>
            <a:ext cx="4480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4B978D"/>
                </a:solidFill>
                <a:latin typeface="Aptos"/>
              </a:rPr>
              <a:t>somente resultados aceitos viram contexto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4846320"/>
            <a:ext cx="54498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60" b="0">
                <a:solidFill>
                  <a:srgbClr val="B5B4A4"/>
                </a:solidFill>
                <a:latin typeface="Aptos"/>
              </a:rPr>
              <a:t>Imagens anteriores foram usadas como referência visual; seed e parâmetros nem sempre estavam disponíveis.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4B978D"/>
                </a:solidFill>
                <a:latin typeface="Aptos"/>
              </a:rPr>
              <a:t>SKILLS UTILIZADAS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ECE5D6"/>
                </a:solidFill>
                <a:latin typeface="Georgia"/>
              </a:rPr>
              <a:t>Três intervenções que mudaram a proposta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10160">
            <a:solidFill>
              <a:srgbClr val="2B6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8912" y="658368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5B4A4"/>
                </a:solidFill>
                <a:latin typeface="Aptos"/>
              </a:rPr>
              <a:t>ECOS DE UMA CIVILIZAÇÃO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7453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4B978D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3675887" cy="4709160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3493008" cy="2084831"/>
          </a:xfrm>
          <a:prstGeom prst="rect">
            <a:avLst/>
          </a:prstGeom>
          <a:ln w="12700">
            <a:solidFill>
              <a:srgbClr val="404C43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67512" y="3712463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4B978D"/>
                </a:solidFill>
                <a:latin typeface="Aptos"/>
              </a:rPr>
              <a:t>`abrir-o-leque`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15968"/>
            <a:ext cx="3108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CE5D6"/>
                </a:solidFill>
                <a:latin typeface="Aptos"/>
              </a:rPr>
              <a:t>Do museu de objetos independentes para uma sequência de descobertas.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234440"/>
            <a:ext cx="3675887" cy="4709160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1325880"/>
            <a:ext cx="3493008" cy="2084831"/>
          </a:xfrm>
          <a:prstGeom prst="rect">
            <a:avLst/>
          </a:prstGeom>
          <a:ln w="12700">
            <a:solidFill>
              <a:srgbClr val="404C43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581144" y="3712463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4B978D"/>
                </a:solidFill>
                <a:latin typeface="Aptos"/>
              </a:rPr>
              <a:t>`afiar-o-eixo`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4315968"/>
            <a:ext cx="3108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CE5D6"/>
                </a:solidFill>
                <a:latin typeface="Aptos"/>
              </a:rPr>
              <a:t>Definição da restrição, da repetição, da variação e do pertencimento.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4464" y="1234440"/>
            <a:ext cx="3675887" cy="4709160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1325880"/>
            <a:ext cx="3493008" cy="2084831"/>
          </a:xfrm>
          <a:prstGeom prst="rect">
            <a:avLst/>
          </a:prstGeom>
          <a:ln w="12700">
            <a:solidFill>
              <a:srgbClr val="404C43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8494776" y="3712463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4B978D"/>
                </a:solidFill>
                <a:latin typeface="Aptos"/>
              </a:rPr>
              <a:t>`derrubar-a-ideia`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4315968"/>
            <a:ext cx="3108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CE5D6"/>
                </a:solidFill>
                <a:latin typeface="Aptos"/>
              </a:rPr>
              <a:t>Continuidade, ordem, descarte e participação ativa do grupo.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08192"/>
            <a:ext cx="111099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B5B4A4"/>
                </a:solidFill>
                <a:latin typeface="Aptos"/>
              </a:rPr>
              <a:t>A skill `escutar-a-reuniao` permanece registrada como não utilizada.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4B978D"/>
                </a:solidFill>
                <a:latin typeface="Aptos"/>
              </a:rPr>
              <a:t>APRENDIZADOS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ECE5D6"/>
                </a:solidFill>
                <a:latin typeface="Georgia"/>
              </a:rPr>
              <a:t>O que o processo tornou visível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10160">
            <a:solidFill>
              <a:srgbClr val="2B6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8912" y="658368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5B4A4"/>
                </a:solidFill>
                <a:latin typeface="Aptos"/>
              </a:rPr>
              <a:t>ECOS DE UMA CIVILIZAÇÃO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7453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4B978D"/>
                </a:solidFill>
                <a:latin typeface="Aptos"/>
              </a:rPr>
              <a:t>13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07008"/>
            <a:ext cx="1901952" cy="1353312"/>
          </a:xfrm>
          <a:prstGeom prst="rect">
            <a:avLst/>
          </a:prstGeom>
          <a:ln w="12700">
            <a:solidFill>
              <a:srgbClr val="404C43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2651760" y="1207008"/>
            <a:ext cx="8988552" cy="1353312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426464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4B978D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1389888"/>
            <a:ext cx="3337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ECE5D6"/>
                </a:solidFill>
                <a:latin typeface="Georgia"/>
              </a:rPr>
              <a:t>Coerência não é só estética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1828800"/>
            <a:ext cx="753465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B5B4A4"/>
                </a:solidFill>
                <a:latin typeface="Aptos"/>
              </a:rPr>
              <a:t>Repetir pedra, cobre e símbolos não basta: cada peça precisa alterar o conhecimento.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834640"/>
            <a:ext cx="1901952" cy="1353312"/>
          </a:xfrm>
          <a:prstGeom prst="rect">
            <a:avLst/>
          </a:prstGeom>
          <a:ln w="12700">
            <a:solidFill>
              <a:srgbClr val="404C43"/>
            </a:solidFill>
          </a:ln>
        </p:spPr>
      </p:pic>
      <p:sp>
        <p:nvSpPr>
          <p:cNvPr id="13" name="Rounded Rectangle 12"/>
          <p:cNvSpPr/>
          <p:nvPr/>
        </p:nvSpPr>
        <p:spPr>
          <a:xfrm>
            <a:off x="2651760" y="2834640"/>
            <a:ext cx="8988552" cy="1353312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3054096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4B978D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3017520"/>
            <a:ext cx="3337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ECE5D6"/>
                </a:solidFill>
                <a:latin typeface="Georgia"/>
              </a:rPr>
              <a:t>Evidência não é interpretação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3456432"/>
            <a:ext cx="753465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B5B4A4"/>
                </a:solidFill>
                <a:latin typeface="Aptos"/>
              </a:rPr>
              <a:t>As descrições distinguem o que foi observado das hipóteses ainda abertas.</a:t>
            </a:r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462272"/>
            <a:ext cx="1901952" cy="1353312"/>
          </a:xfrm>
          <a:prstGeom prst="rect">
            <a:avLst/>
          </a:prstGeom>
          <a:ln w="12700">
            <a:solidFill>
              <a:srgbClr val="404C43"/>
            </a:solidFill>
          </a:ln>
        </p:spPr>
      </p:pic>
      <p:sp>
        <p:nvSpPr>
          <p:cNvPr id="18" name="Rounded Rectangle 17"/>
          <p:cNvSpPr/>
          <p:nvPr/>
        </p:nvSpPr>
        <p:spPr>
          <a:xfrm>
            <a:off x="2651760" y="4462272"/>
            <a:ext cx="8988552" cy="1353312"/>
          </a:xfrm>
          <a:prstGeom prst="roundRect">
            <a:avLst>
              <a:gd name="adj" fmla="val 8000"/>
            </a:avLst>
          </a:prstGeom>
          <a:solidFill>
            <a:srgbClr val="1F2520"/>
          </a:solidFill>
          <a:ln>
            <a:solidFill>
              <a:srgbClr val="2B6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4681728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4B978D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4645152"/>
            <a:ext cx="3337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ECE5D6"/>
                </a:solidFill>
                <a:latin typeface="Georgia"/>
              </a:rPr>
              <a:t>Descartar também constrói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2152" y="5084064"/>
            <a:ext cx="753465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B5B4A4"/>
                </a:solidFill>
                <a:latin typeface="Aptos"/>
              </a:rPr>
              <a:t>Inserir etapas intermediárias evitou saltos e tornou a progressão mais defensável.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539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390" y="0"/>
            <a:ext cx="6096304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847088" y="1389888"/>
            <a:ext cx="8503920" cy="3977639"/>
          </a:xfrm>
          <a:prstGeom prst="roundRect">
            <a:avLst>
              <a:gd name="adj" fmla="val 8000"/>
            </a:avLst>
          </a:prstGeom>
          <a:solidFill>
            <a:srgbClr val="141815"/>
          </a:solidFill>
          <a:ln>
            <a:solidFill>
              <a:srgbClr val="1418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31720" y="1783080"/>
            <a:ext cx="7543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4B978D"/>
                </a:solidFill>
                <a:latin typeface="Aptos"/>
              </a:rPr>
              <a:t>DA PRIMEIRA PISTA À ÚLTIMA CONEXÃO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2313432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ECE5D6"/>
                </a:solidFill>
                <a:latin typeface="Georgia"/>
              </a:rPr>
              <a:t>A civilização não foi definida antes das imagens.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2971800"/>
            <a:ext cx="72237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C6B284"/>
                </a:solidFill>
                <a:latin typeface="Aptos"/>
              </a:rPr>
              <a:t>Ela emergiu das relações construídas entre elas.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58768" y="3685032"/>
            <a:ext cx="4480559" cy="0"/>
          </a:xfrm>
          <a:prstGeom prst="line">
            <a:avLst/>
          </a:prstGeom>
          <a:ln w="15240">
            <a:solidFill>
              <a:srgbClr val="2B6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61488" y="4014215"/>
            <a:ext cx="667512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20" b="1">
                <a:solidFill>
                  <a:srgbClr val="4B978D"/>
                </a:solidFill>
                <a:latin typeface="Aptos"/>
              </a:rPr>
              <a:t>As três correntes registravam lugares, materiais, grupos, ações — ou uma forma de organizar relações?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6144768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ECE5D6"/>
                </a:solidFill>
                <a:latin typeface="Aptos"/>
              </a:rPr>
              <a:t>ECOS DE UMA CIVILIZAÇÃO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 de uma Civilização</dc:title>
  <dc:subject>Apresentação do projeto de Criatividade Computacional</dc:subject>
  <dc:creator>Equipe Ecos de uma Civilização</dc:creator>
  <cp:keywords>arqueologia fictícia, criatividade computacional, IA, coleção</cp:keywords>
  <dc:description>Gerado exclusivamente a partir do conteúdo do repositório do projeto.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